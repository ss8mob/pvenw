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9"/>
    <p:restoredTop sz="94612"/>
  </p:normalViewPr>
  <p:slideViewPr>
    <p:cSldViewPr snapToGrid="0" snapToObjects="1">
      <p:cViewPr varScale="1">
        <p:scale>
          <a:sx n="126" d="100"/>
          <a:sy n="126" d="100"/>
        </p:scale>
        <p:origin x="200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D979C-A318-404B-8230-3A4DF1A63998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953E0-89D6-BB46-9E0E-FFAA197418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953E0-89D6-BB46-9E0E-FFAA1974183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68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743F22-9150-7E2C-3F70-31088127534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294880" y="274638"/>
            <a:ext cx="1391920" cy="35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1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80091"/>
            <a:ext cx="7772400" cy="2523218"/>
          </a:xfrm>
        </p:spPr>
        <p:txBody>
          <a:bodyPr>
            <a:normAutofit/>
          </a:bodyPr>
          <a:lstStyle/>
          <a:p>
            <a:r>
              <a:rPr lang="en-US" b="1" dirty="0"/>
              <a:t>PVE </a:t>
            </a:r>
            <a:r>
              <a:rPr b="1" dirty="0"/>
              <a:t>Neighborhood Watch</a:t>
            </a:r>
            <a:br>
              <a:rPr lang="en-US" b="1" dirty="0"/>
            </a:br>
            <a:r>
              <a:rPr b="1" dirty="0"/>
              <a:t>Area Coordinator</a:t>
            </a:r>
            <a:br>
              <a:rPr lang="en-US" b="1" dirty="0"/>
            </a:br>
            <a:r>
              <a:rPr b="1" dirty="0"/>
              <a:t>Training</a:t>
            </a:r>
            <a:r>
              <a:rPr lang="en-US" b="1" dirty="0"/>
              <a:t> and Best Practices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0400"/>
            <a:ext cx="8229600" cy="1143000"/>
          </a:xfrm>
        </p:spPr>
        <p:txBody>
          <a:bodyPr/>
          <a:lstStyle/>
          <a:p>
            <a:r>
              <a:rPr b="1" dirty="0"/>
              <a:t>Role of the Area Coordinator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3400"/>
            <a:ext cx="8229600" cy="4525963"/>
          </a:xfrm>
        </p:spPr>
        <p:txBody>
          <a:bodyPr>
            <a:normAutofit fontScale="92500"/>
          </a:bodyPr>
          <a:lstStyle/>
          <a:p>
            <a:r>
              <a:rPr sz="2400" b="1" dirty="0"/>
              <a:t>Serve as the Neighborhood Watch leader for your area.</a:t>
            </a:r>
          </a:p>
          <a:p>
            <a:pPr lvl="1"/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Residents who have questions about Neighborhood Watch, suspicious activity, or volunteer opportunities know they can contact you for </a:t>
            </a:r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guidance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</a:rPr>
              <a:t> </a:t>
            </a:r>
          </a:p>
          <a:p>
            <a:r>
              <a:rPr sz="2400" b="1" dirty="0"/>
              <a:t>Support and mentor Block Captains.</a:t>
            </a:r>
            <a:endParaRPr lang="en-US" sz="2400" b="1" dirty="0"/>
          </a:p>
          <a:p>
            <a:pPr lvl="1"/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new Block Captain is unsure how to introduce themselves to neighbors. You provide a sample welcome email and offer advice. </a:t>
            </a:r>
          </a:p>
          <a:p>
            <a:r>
              <a:rPr sz="2400" b="1" dirty="0"/>
              <a:t>Promote communication, preparedness, and community engagement.</a:t>
            </a:r>
            <a:endParaRPr lang="en-US" sz="2400" b="1" dirty="0"/>
          </a:p>
          <a:p>
            <a:pPr lvl="1"/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send quarterly newsletters, encourage emergency preparedness, and organize a neighborhood gathering.</a:t>
            </a:r>
            <a:r>
              <a:rPr lang="en-US" sz="1800" dirty="0">
                <a:effectLst/>
              </a:rPr>
              <a:t> </a:t>
            </a:r>
          </a:p>
          <a:p>
            <a:r>
              <a:rPr sz="2400" b="1" dirty="0"/>
              <a:t>Act as a liaison with leadership and public safety partners.</a:t>
            </a:r>
            <a:endParaRPr lang="en-US" sz="2400" b="1" dirty="0"/>
          </a:p>
          <a:p>
            <a:pPr lvl="1"/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share information from the PVE Police Department with your Block Captains and relay neighborhood concerns to Neighborhood Watch leadership.</a:t>
            </a:r>
            <a:r>
              <a:rPr lang="en-US" sz="1800" dirty="0">
                <a:effectLst/>
              </a:rPr>
              <a:t> 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0880"/>
            <a:ext cx="8229600" cy="1143000"/>
          </a:xfrm>
        </p:spPr>
        <p:txBody>
          <a:bodyPr/>
          <a:lstStyle/>
          <a:p>
            <a:r>
              <a:rPr b="1" dirty="0"/>
              <a:t>Mission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3880"/>
            <a:ext cx="8229600" cy="4525963"/>
          </a:xfrm>
        </p:spPr>
        <p:txBody>
          <a:bodyPr>
            <a:normAutofit fontScale="70000" lnSpcReduction="20000"/>
          </a:bodyPr>
          <a:lstStyle/>
          <a:p>
            <a:endParaRPr lang="en-US" sz="2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Build stronger neighborhood connections.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Encourage neighbors to learn each other's names and exchange contact information.</a:t>
            </a:r>
            <a:endParaRPr lang="en-US" sz="23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Improve awareness of safety concerns.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 information about recent vehicle break-ins and remind residents to lock their cars.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Encourage reporting of suspicious activity.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Teach residents that suspicious activity should be reported to the Police Department immediately rather than posted only on social media.</a:t>
            </a:r>
            <a:endParaRPr lang="en-US" sz="23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100" b="1" dirty="0"/>
              <a:t>Increase emergency preparedness.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Encourage families to maintain emergency supplies and communication plans.</a:t>
            </a:r>
            <a:endParaRPr lang="en-US" sz="23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100" b="1" dirty="0"/>
              <a:t>Create a welcoming and informed community.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Ensure new residents receive a Neighborhood Watch welcome packet and invitation to participate.</a:t>
            </a:r>
            <a:br>
              <a:rPr lang="en-US" sz="2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9279"/>
            <a:ext cx="8229600" cy="1143000"/>
          </a:xfrm>
        </p:spPr>
        <p:txBody>
          <a:bodyPr/>
          <a:lstStyle/>
          <a:p>
            <a:r>
              <a:rPr b="1" dirty="0"/>
              <a:t>Leadership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8201"/>
            <a:ext cx="8229600" cy="4160520"/>
          </a:xfrm>
        </p:spPr>
        <p:txBody>
          <a:bodyPr>
            <a:normAutofit/>
          </a:bodyPr>
          <a:lstStyle/>
          <a:p>
            <a:r>
              <a:rPr sz="2400" b="1" dirty="0"/>
              <a:t>Lead by example.</a:t>
            </a:r>
            <a:endParaRPr lang="en-US" sz="2400" b="1" dirty="0"/>
          </a:p>
          <a:p>
            <a:pPr lvl="1"/>
            <a:r>
              <a:rPr sz="1800" dirty="0"/>
              <a:t>Attend meetings</a:t>
            </a:r>
            <a:r>
              <a:rPr lang="en-US" sz="1800" dirty="0"/>
              <a:t> regularly</a:t>
            </a:r>
            <a:r>
              <a:rPr sz="1800" dirty="0"/>
              <a:t> and follow through on commitments.</a:t>
            </a:r>
          </a:p>
          <a:p>
            <a:r>
              <a:rPr sz="2400" b="1" dirty="0"/>
              <a:t>Be approachable and responsive.</a:t>
            </a:r>
            <a:endParaRPr lang="en-US" sz="2400" b="1" dirty="0"/>
          </a:p>
          <a:p>
            <a:pPr lvl="1"/>
            <a:r>
              <a:rPr sz="1800" dirty="0"/>
              <a:t>Reply to neighbor inquiries promptly.</a:t>
            </a:r>
          </a:p>
          <a:p>
            <a:r>
              <a:rPr sz="2400" b="1" dirty="0"/>
              <a:t>Maintain professionalism and confidentiality.</a:t>
            </a:r>
            <a:endParaRPr lang="en-US" sz="2400" b="1" dirty="0"/>
          </a:p>
          <a:p>
            <a:pPr lvl="1"/>
            <a:r>
              <a:rPr sz="1800" dirty="0"/>
              <a:t>Protect personal information.</a:t>
            </a:r>
          </a:p>
          <a:p>
            <a:r>
              <a:rPr sz="2400" b="1" dirty="0"/>
              <a:t>Encourage participation without pressure.</a:t>
            </a:r>
            <a:endParaRPr lang="en-US" sz="2400" b="1" dirty="0"/>
          </a:p>
          <a:p>
            <a:pPr lvl="1"/>
            <a:r>
              <a:rPr sz="1800" dirty="0"/>
              <a:t>Invite but never pressure volunteers.</a:t>
            </a:r>
          </a:p>
          <a:p>
            <a:r>
              <a:rPr sz="2400" b="1" dirty="0"/>
              <a:t>Recognize and appreciate volunteers.</a:t>
            </a:r>
            <a:endParaRPr lang="en-US" sz="2400" b="1" dirty="0"/>
          </a:p>
          <a:p>
            <a:pPr lvl="1"/>
            <a:r>
              <a:rPr sz="1800" dirty="0"/>
              <a:t>Publicly thank Block Captains.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3118"/>
            <a:ext cx="8229600" cy="1143000"/>
          </a:xfrm>
        </p:spPr>
        <p:txBody>
          <a:bodyPr/>
          <a:lstStyle/>
          <a:p>
            <a:r>
              <a:rPr b="1" dirty="0"/>
              <a:t>Working with Block Captains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8681"/>
            <a:ext cx="8229600" cy="4160520"/>
          </a:xfrm>
        </p:spPr>
        <p:txBody>
          <a:bodyPr>
            <a:normAutofit/>
          </a:bodyPr>
          <a:lstStyle/>
          <a:p>
            <a:r>
              <a:rPr sz="2400" b="1" dirty="0"/>
              <a:t>Recruit and retain Block Captains.</a:t>
            </a:r>
            <a:endParaRPr lang="en-US" sz="2400" b="1" dirty="0"/>
          </a:p>
          <a:p>
            <a:pPr lvl="1"/>
            <a:r>
              <a:rPr sz="1800" dirty="0"/>
              <a:t>Invite engaged residents to serve.</a:t>
            </a:r>
          </a:p>
          <a:p>
            <a:r>
              <a:rPr sz="2400" b="1" dirty="0"/>
              <a:t>Provide guidance and support.</a:t>
            </a:r>
            <a:endParaRPr lang="en-US" sz="2400" b="1" dirty="0"/>
          </a:p>
          <a:p>
            <a:pPr lvl="1"/>
            <a:r>
              <a:rPr sz="1800" dirty="0"/>
              <a:t>Mentor new </a:t>
            </a:r>
            <a:r>
              <a:rPr lang="en-US" sz="1800" dirty="0"/>
              <a:t>Block Captains</a:t>
            </a:r>
            <a:r>
              <a:rPr sz="1800" dirty="0"/>
              <a:t>.</a:t>
            </a:r>
          </a:p>
          <a:p>
            <a:r>
              <a:rPr sz="2400" b="1" dirty="0"/>
              <a:t>Keep contact information current.</a:t>
            </a:r>
            <a:endParaRPr lang="en-US" sz="2400" b="1" dirty="0"/>
          </a:p>
          <a:p>
            <a:pPr lvl="1"/>
            <a:r>
              <a:rPr lang="en-US" sz="1800" dirty="0"/>
              <a:t>Maintain current rosters</a:t>
            </a:r>
            <a:r>
              <a:rPr sz="1800" dirty="0"/>
              <a:t>.</a:t>
            </a:r>
          </a:p>
          <a:p>
            <a:r>
              <a:rPr sz="2400" b="1" dirty="0"/>
              <a:t>Share important updates and resources.</a:t>
            </a:r>
            <a:endParaRPr lang="en-US" sz="2400" b="1" dirty="0"/>
          </a:p>
          <a:p>
            <a:pPr lvl="1"/>
            <a:r>
              <a:rPr sz="1800" dirty="0"/>
              <a:t>Forward alerts and training materials.</a:t>
            </a:r>
          </a:p>
          <a:p>
            <a:r>
              <a:rPr sz="2400" b="1" dirty="0"/>
              <a:t>Help identify coverage gaps.</a:t>
            </a:r>
            <a:endParaRPr lang="en-US" sz="2400" b="1" dirty="0"/>
          </a:p>
          <a:p>
            <a:pPr lvl="1"/>
            <a:r>
              <a:rPr sz="1800" dirty="0"/>
              <a:t>Recruit </a:t>
            </a:r>
            <a:r>
              <a:rPr lang="en-US" sz="1800" dirty="0"/>
              <a:t>volunteers </a:t>
            </a:r>
            <a:r>
              <a:rPr sz="1800" dirty="0"/>
              <a:t>for uncovered streets.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3278"/>
            <a:ext cx="8229600" cy="1143000"/>
          </a:xfrm>
        </p:spPr>
        <p:txBody>
          <a:bodyPr/>
          <a:lstStyle/>
          <a:p>
            <a:r>
              <a:rPr b="1" dirty="0"/>
              <a:t>Membership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099561"/>
          </a:xfrm>
        </p:spPr>
        <p:txBody>
          <a:bodyPr>
            <a:normAutofit/>
          </a:bodyPr>
          <a:lstStyle/>
          <a:p>
            <a:r>
              <a:rPr sz="2400" b="1" dirty="0"/>
              <a:t>Maintain accurate member records.</a:t>
            </a:r>
            <a:endParaRPr lang="en-US" sz="2400" b="1" dirty="0"/>
          </a:p>
          <a:p>
            <a:pPr lvl="1"/>
            <a:r>
              <a:rPr sz="1800" dirty="0"/>
              <a:t>Verify addresses and emails.</a:t>
            </a:r>
          </a:p>
          <a:p>
            <a:r>
              <a:rPr sz="2400" b="1" dirty="0"/>
              <a:t>Periodically verify contact information.</a:t>
            </a:r>
            <a:endParaRPr lang="en-US" sz="2400" b="1" dirty="0"/>
          </a:p>
          <a:p>
            <a:pPr lvl="1"/>
            <a:r>
              <a:rPr sz="1800" dirty="0"/>
              <a:t>Send annual update requests.</a:t>
            </a:r>
          </a:p>
          <a:p>
            <a:r>
              <a:rPr sz="2400" b="1" dirty="0"/>
              <a:t>Encourage annual membership renewals.</a:t>
            </a:r>
            <a:endParaRPr lang="en-US" sz="2400" b="1" dirty="0"/>
          </a:p>
          <a:p>
            <a:pPr lvl="1"/>
            <a:r>
              <a:rPr sz="1800" dirty="0"/>
              <a:t>Contact expired members.</a:t>
            </a:r>
          </a:p>
          <a:p>
            <a:r>
              <a:rPr sz="2400" b="1" dirty="0"/>
              <a:t>Track vacancies and volunteer opportunities.</a:t>
            </a:r>
            <a:endParaRPr lang="en-US" sz="2400" b="1" dirty="0"/>
          </a:p>
          <a:p>
            <a:pPr lvl="1"/>
            <a:r>
              <a:rPr sz="1800" dirty="0"/>
              <a:t>Maintain an open-position list.</a:t>
            </a:r>
          </a:p>
          <a:p>
            <a:r>
              <a:rPr sz="2400" b="1" dirty="0"/>
              <a:t>Protect personal information.</a:t>
            </a:r>
            <a:endParaRPr lang="en-US" sz="2400" b="1" dirty="0"/>
          </a:p>
          <a:p>
            <a:pPr lvl="1"/>
            <a:r>
              <a:rPr sz="1800" dirty="0"/>
              <a:t>Use BCC for group emails.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2958"/>
            <a:ext cx="8229600" cy="1143000"/>
          </a:xfrm>
        </p:spPr>
        <p:txBody>
          <a:bodyPr/>
          <a:lstStyle/>
          <a:p>
            <a:r>
              <a:rPr dirty="0"/>
              <a:t>Community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140201"/>
          </a:xfrm>
        </p:spPr>
        <p:txBody>
          <a:bodyPr>
            <a:normAutofit/>
          </a:bodyPr>
          <a:lstStyle/>
          <a:p>
            <a:r>
              <a:rPr b="1" dirty="0"/>
              <a:t>Send timely and concise emails.</a:t>
            </a:r>
            <a:endParaRPr lang="en-US" b="1" dirty="0"/>
          </a:p>
          <a:p>
            <a:pPr lvl="1"/>
            <a:r>
              <a:rPr dirty="0"/>
              <a:t>Keep announcements brief and clear.</a:t>
            </a:r>
          </a:p>
          <a:p>
            <a:r>
              <a:rPr b="1" dirty="0"/>
              <a:t>Share crime prevention and preparedness information.</a:t>
            </a:r>
            <a:endParaRPr lang="en-US" b="1" dirty="0"/>
          </a:p>
          <a:p>
            <a:pPr lvl="1"/>
            <a:r>
              <a:rPr dirty="0"/>
              <a:t>Package theft reminders.</a:t>
            </a:r>
          </a:p>
          <a:p>
            <a:r>
              <a:rPr b="1" dirty="0"/>
              <a:t>Promote meetings and community events.</a:t>
            </a:r>
            <a:endParaRPr lang="en-US" b="1" dirty="0"/>
          </a:p>
          <a:p>
            <a:pPr lvl="1"/>
            <a:r>
              <a:rPr dirty="0"/>
              <a:t>Neighbors Meeting Neighbors invitations.</a:t>
            </a:r>
          </a:p>
          <a:p>
            <a:r>
              <a:rPr b="1" dirty="0"/>
              <a:t>Use a positive, neighbor-focused tone.</a:t>
            </a:r>
            <a:endParaRPr lang="en-US" b="1" dirty="0"/>
          </a:p>
          <a:p>
            <a:pPr lvl="1"/>
            <a:r>
              <a:rPr dirty="0"/>
              <a:t>Emphasize community strengths.</a:t>
            </a:r>
          </a:p>
          <a:p>
            <a:r>
              <a:rPr b="1" dirty="0"/>
              <a:t>Respond to inquiries promptly.</a:t>
            </a:r>
            <a:endParaRPr lang="en-US" b="1" dirty="0"/>
          </a:p>
          <a:p>
            <a:pPr lvl="1"/>
            <a:r>
              <a:rPr dirty="0"/>
              <a:t>Acknowledge messages within 24–48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5198"/>
            <a:ext cx="8229600" cy="1143000"/>
          </a:xfrm>
        </p:spPr>
        <p:txBody>
          <a:bodyPr>
            <a:noAutofit/>
          </a:bodyPr>
          <a:lstStyle/>
          <a:p>
            <a:r>
              <a:rPr sz="4000" dirty="0"/>
              <a:t>Events and Community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60601"/>
            <a:ext cx="8229600" cy="3825240"/>
          </a:xfrm>
        </p:spPr>
        <p:txBody>
          <a:bodyPr>
            <a:normAutofit/>
          </a:bodyPr>
          <a:lstStyle/>
          <a:p>
            <a:r>
              <a:rPr dirty="0"/>
              <a:t>Organize neighborhood gatherings.</a:t>
            </a:r>
            <a:endParaRPr lang="en-US" dirty="0"/>
          </a:p>
          <a:p>
            <a:pPr lvl="1"/>
            <a:r>
              <a:rPr dirty="0"/>
              <a:t>Coffee meetups or park gatherings.</a:t>
            </a:r>
          </a:p>
          <a:p>
            <a:r>
              <a:rPr dirty="0"/>
              <a:t>Support Neighbors Meeting Neighbors events.</a:t>
            </a:r>
            <a:endParaRPr lang="en-US" dirty="0"/>
          </a:p>
          <a:p>
            <a:pPr lvl="1"/>
            <a:r>
              <a:rPr lang="en-US" dirty="0"/>
              <a:t>Get to know the members</a:t>
            </a:r>
            <a:endParaRPr dirty="0"/>
          </a:p>
          <a:p>
            <a:r>
              <a:rPr dirty="0"/>
              <a:t>Coordinate with local agencies.</a:t>
            </a:r>
            <a:endParaRPr lang="en-US" dirty="0"/>
          </a:p>
          <a:p>
            <a:pPr lvl="1"/>
            <a:r>
              <a:rPr dirty="0"/>
              <a:t>Invite police or fire representatives.</a:t>
            </a:r>
          </a:p>
          <a:p>
            <a:r>
              <a:rPr dirty="0"/>
              <a:t>Use events to recruit volunteers and strengthen relationships.</a:t>
            </a:r>
            <a:endParaRPr lang="en-US" dirty="0"/>
          </a:p>
          <a:p>
            <a:pPr lvl="1"/>
            <a:r>
              <a:rPr lang="en-US" dirty="0"/>
              <a:t>Publicize the importance of the Neighborhood Watch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8718"/>
            <a:ext cx="8229600" cy="1143000"/>
          </a:xfrm>
        </p:spPr>
        <p:txBody>
          <a:bodyPr/>
          <a:lstStyle/>
          <a:p>
            <a:r>
              <a:rPr dirty="0"/>
              <a:t>Emergency Preparedness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1001"/>
            <a:ext cx="8229600" cy="3266440"/>
          </a:xfrm>
        </p:spPr>
        <p:txBody>
          <a:bodyPr/>
          <a:lstStyle/>
          <a:p>
            <a:r>
              <a:rPr dirty="0"/>
              <a:t>Encourage household preparedness.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b="0" dirty="0"/>
              <a:t>- </a:t>
            </a:r>
            <a:r>
              <a:rPr sz="1800" b="0" dirty="0"/>
              <a:t>Water, food, and first-aid supplies.</a:t>
            </a:r>
          </a:p>
          <a:p>
            <a:r>
              <a:rPr dirty="0"/>
              <a:t>Promote emergency communication plans.</a:t>
            </a:r>
          </a:p>
          <a:p>
            <a:r>
              <a:rPr dirty="0"/>
              <a:t>Share local emergency resources.</a:t>
            </a:r>
          </a:p>
          <a:p>
            <a:r>
              <a:rPr dirty="0"/>
              <a:t>Support community resilience efforts.</a:t>
            </a:r>
            <a:br>
              <a:rPr dirty="0"/>
            </a:br>
            <a:r>
              <a:rPr lang="en-US" sz="1800" b="0" dirty="0"/>
              <a:t>- </a:t>
            </a:r>
            <a:r>
              <a:rPr sz="1800" b="0" dirty="0"/>
              <a:t>Check on vulnerable neighbors.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999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Recruiting and Developing Volunteers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1"/>
            <a:ext cx="8229600" cy="3347720"/>
          </a:xfrm>
        </p:spPr>
        <p:txBody>
          <a:bodyPr/>
          <a:lstStyle/>
          <a:p>
            <a:r>
              <a:rPr dirty="0"/>
              <a:t>Identify engaged neighbors.</a:t>
            </a:r>
          </a:p>
          <a:p>
            <a:r>
              <a:rPr dirty="0"/>
              <a:t>Conduct informal interviews when needed.</a:t>
            </a:r>
          </a:p>
          <a:p>
            <a:r>
              <a:rPr dirty="0"/>
              <a:t>Match volunteers to suitable roles.</a:t>
            </a:r>
          </a:p>
          <a:p>
            <a:r>
              <a:rPr dirty="0"/>
              <a:t>Provide encouragement</a:t>
            </a:r>
            <a:r>
              <a:rPr lang="en-US" dirty="0"/>
              <a:t> and </a:t>
            </a:r>
            <a:r>
              <a:rPr dirty="0"/>
              <a:t>training.</a:t>
            </a:r>
            <a:endParaRPr lang="en-US" dirty="0"/>
          </a:p>
          <a:p>
            <a:r>
              <a:rPr lang="en-US" dirty="0"/>
              <a:t>Recognize their contributions.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9998"/>
            <a:ext cx="8229600" cy="1143000"/>
          </a:xfrm>
        </p:spPr>
        <p:txBody>
          <a:bodyPr/>
          <a:lstStyle/>
          <a:p>
            <a:r>
              <a:rPr dirty="0"/>
              <a:t>Common 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041"/>
            <a:ext cx="8229600" cy="3561080"/>
          </a:xfrm>
        </p:spPr>
        <p:txBody>
          <a:bodyPr>
            <a:normAutofit/>
          </a:bodyPr>
          <a:lstStyle/>
          <a:p>
            <a:r>
              <a:rPr dirty="0"/>
              <a:t>Low participation</a:t>
            </a:r>
            <a:endParaRPr lang="en-US" dirty="0"/>
          </a:p>
          <a:p>
            <a:pPr lvl="1"/>
            <a:r>
              <a:rPr dirty="0"/>
              <a:t>Personal outreach.</a:t>
            </a:r>
          </a:p>
          <a:p>
            <a:r>
              <a:rPr dirty="0"/>
              <a:t>Volunteer turnover</a:t>
            </a:r>
            <a:endParaRPr lang="en-US" dirty="0"/>
          </a:p>
          <a:p>
            <a:pPr lvl="1"/>
            <a:r>
              <a:rPr dirty="0"/>
              <a:t>Build a leadership pipeline.</a:t>
            </a:r>
          </a:p>
          <a:p>
            <a:r>
              <a:rPr dirty="0"/>
              <a:t>Communication gaps</a:t>
            </a:r>
            <a:endParaRPr lang="en-US" dirty="0"/>
          </a:p>
          <a:p>
            <a:pPr lvl="1"/>
            <a:r>
              <a:rPr dirty="0"/>
              <a:t>Update contact lists regularly.</a:t>
            </a:r>
          </a:p>
          <a:p>
            <a:r>
              <a:rPr dirty="0"/>
              <a:t>Burnout</a:t>
            </a:r>
            <a:endParaRPr lang="en-US" dirty="0"/>
          </a:p>
          <a:p>
            <a:pPr lvl="1"/>
            <a:r>
              <a:rPr dirty="0"/>
              <a:t>Delegate responsibilities and share the workload.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82078"/>
            <a:ext cx="8229600" cy="1143000"/>
          </a:xfrm>
        </p:spPr>
        <p:txBody>
          <a:bodyPr/>
          <a:lstStyle/>
          <a:p>
            <a:r>
              <a:rPr dirty="0"/>
              <a:t>Keys to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1"/>
            <a:ext cx="8229600" cy="3500120"/>
          </a:xfrm>
        </p:spPr>
        <p:txBody>
          <a:bodyPr/>
          <a:lstStyle/>
          <a:p>
            <a:r>
              <a:rPr dirty="0"/>
              <a:t>Be visible and engaged.</a:t>
            </a:r>
          </a:p>
          <a:p>
            <a:r>
              <a:rPr dirty="0"/>
              <a:t>Communicate consistently.</a:t>
            </a:r>
          </a:p>
          <a:p>
            <a:r>
              <a:rPr dirty="0"/>
              <a:t>Build relationships before they are needed.</a:t>
            </a:r>
          </a:p>
          <a:p>
            <a:r>
              <a:rPr dirty="0"/>
              <a:t>Support your Block Captains.</a:t>
            </a:r>
          </a:p>
          <a:p>
            <a:r>
              <a:rPr dirty="0"/>
              <a:t>Celebrate community successes.</a:t>
            </a:r>
          </a:p>
          <a:p>
            <a:r>
              <a:rPr dirty="0"/>
              <a:t>Neighborhood Watch is about neighbors helping neighbors.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646</Words>
  <Application>Microsoft Macintosh PowerPoint</Application>
  <PresentationFormat>On-screen Show (4:3)</PresentationFormat>
  <Paragraphs>104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PVE Neighborhood Watch Area Coordinator Training and Best Practices</vt:lpstr>
      <vt:lpstr>Role of the Area Coordinator</vt:lpstr>
      <vt:lpstr>Mission and Objectives</vt:lpstr>
      <vt:lpstr>Leadership Expectations</vt:lpstr>
      <vt:lpstr>Working with Block Captains</vt:lpstr>
      <vt:lpstr>Membership Management</vt:lpstr>
      <vt:lpstr>Community Communications</vt:lpstr>
      <vt:lpstr>Events and Community Engagement</vt:lpstr>
      <vt:lpstr>Emergency Preparedness</vt:lpstr>
      <vt:lpstr>Recruiting and Developing Volunteers</vt:lpstr>
      <vt:lpstr>Common Challenges and Solutions</vt:lpstr>
      <vt:lpstr>Keys to Success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Neighborhood Watch Area Coordinator Training</dc:title>
  <dc:subject/>
  <dc:creator/>
  <cp:keywords/>
  <dc:description>generated using python-pptx</dc:description>
  <cp:lastModifiedBy>Michael Barrett</cp:lastModifiedBy>
  <cp:revision>17</cp:revision>
  <dcterms:created xsi:type="dcterms:W3CDTF">2013-01-27T09:14:16Z</dcterms:created>
  <dcterms:modified xsi:type="dcterms:W3CDTF">2026-06-18T20:27:38Z</dcterms:modified>
  <cp:category/>
</cp:coreProperties>
</file>